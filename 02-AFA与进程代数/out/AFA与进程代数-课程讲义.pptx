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9418320" y="1143000"/>
            <a:ext cx="1143000" cy="68580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0561320" y="1143000"/>
            <a:ext cx="640080" cy="118872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 flipV="1">
            <a:off x="9418320" y="1828800"/>
            <a:ext cx="1783080" cy="50292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9290304" y="1700784"/>
            <a:ext cx="256032" cy="256032"/>
          </a:xfrm>
          <a:prstGeom prst="ellipse">
            <a:avLst/>
          </a:prstGeom>
          <a:solidFill>
            <a:srgbClr val="0F172A"/>
          </a:solidFill>
          <a:ln w="254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433304" y="1014983"/>
            <a:ext cx="256032" cy="256032"/>
          </a:xfrm>
          <a:prstGeom prst="ellipse">
            <a:avLst/>
          </a:prstGeom>
          <a:solidFill>
            <a:srgbClr val="0F172A"/>
          </a:solidFill>
          <a:ln w="254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73384" y="2203703"/>
            <a:ext cx="256032" cy="256032"/>
          </a:xfrm>
          <a:prstGeom prst="ellipse">
            <a:avLst/>
          </a:prstGeom>
          <a:solidFill>
            <a:srgbClr val="0F172A"/>
          </a:solidFill>
          <a:ln w="254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41732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60A5FA"/>
                </a:solidFill>
                <a:latin typeface="Arial"/>
                <a:ea typeface="Microsoft YaHei"/>
              </a:rPr>
              <a:t>A F A　</a:t>
            </a:r>
            <a:r>
              <a:rPr sz="1400" b="1">
                <a:solidFill>
                  <a:srgbClr val="60A5FA"/>
                </a:solidFill>
                <a:latin typeface="Microsoft YaHei"/>
                <a:ea typeface="Microsoft YaHei"/>
              </a:rPr>
              <a:t>与</a:t>
            </a:r>
            <a:r>
              <a:rPr sz="1400" b="1">
                <a:solidFill>
                  <a:srgbClr val="60A5FA"/>
                </a:solidFill>
                <a:latin typeface="Arial"/>
                <a:ea typeface="Microsoft YaHei"/>
              </a:rPr>
              <a:t>　</a:t>
            </a:r>
            <a:r>
              <a:rPr sz="1400" b="1">
                <a:solidFill>
                  <a:srgbClr val="60A5FA"/>
                </a:solidFill>
                <a:latin typeface="Microsoft YaHei"/>
                <a:ea typeface="Microsoft YaHei"/>
              </a:rPr>
              <a:t>进</a:t>
            </a:r>
            <a:r>
              <a:rPr sz="1400" b="1">
                <a:solidFill>
                  <a:srgbClr val="60A5FA"/>
                </a:solidFill>
                <a:latin typeface="Arial"/>
                <a:ea typeface="Microsoft YaHei"/>
              </a:rPr>
              <a:t> </a:t>
            </a:r>
            <a:r>
              <a:rPr sz="1400" b="1">
                <a:solidFill>
                  <a:srgbClr val="60A5FA"/>
                </a:solidFill>
                <a:latin typeface="Microsoft YaHei"/>
                <a:ea typeface="Microsoft YaHei"/>
              </a:rPr>
              <a:t>程</a:t>
            </a:r>
            <a:r>
              <a:rPr sz="1400" b="1">
                <a:solidFill>
                  <a:srgbClr val="60A5FA"/>
                </a:solidFill>
                <a:latin typeface="Arial"/>
                <a:ea typeface="Microsoft YaHei"/>
              </a:rPr>
              <a:t> </a:t>
            </a:r>
            <a:r>
              <a:rPr sz="1400" b="1">
                <a:solidFill>
                  <a:srgbClr val="60A5FA"/>
                </a:solidFill>
                <a:latin typeface="Microsoft YaHei"/>
                <a:ea typeface="Microsoft YaHei"/>
              </a:rPr>
              <a:t>代</a:t>
            </a:r>
            <a:r>
              <a:rPr sz="1400" b="1">
                <a:solidFill>
                  <a:srgbClr val="60A5FA"/>
                </a:solidFill>
                <a:latin typeface="Arial"/>
                <a:ea typeface="Microsoft YaHei"/>
              </a:rPr>
              <a:t> </a:t>
            </a:r>
            <a:r>
              <a:rPr sz="1400" b="1">
                <a:solidFill>
                  <a:srgbClr val="60A5FA"/>
                </a:solidFill>
                <a:latin typeface="Microsoft YaHei"/>
                <a:ea typeface="Microsoft YaHei"/>
              </a:rPr>
              <a:t>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8686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>
                <a:solidFill>
                  <a:srgbClr val="FFFFFF"/>
                </a:solidFill>
                <a:latin typeface="Arial"/>
                <a:ea typeface="Microsoft YaHei"/>
              </a:rPr>
              <a:t>AFA </a:t>
            </a: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</a:rPr>
              <a:t>与进程代数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71800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CBD5E1"/>
                </a:solidFill>
                <a:latin typeface="Microsoft YaHei"/>
                <a:ea typeface="Microsoft YaHei"/>
              </a:rPr>
              <a:t>从反基础公理到超集合语义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51560" y="3794760"/>
            <a:ext cx="6080760" cy="0"/>
          </a:xfrm>
          <a:prstGeom prst="line">
            <a:avLst/>
          </a:prstGeom>
          <a:ln w="5080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406908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E2E8F0"/>
                </a:solidFill>
                <a:latin typeface="Arial"/>
                <a:ea typeface="Microsoft YaHei"/>
              </a:rPr>
              <a:t>“</a:t>
            </a:r>
            <a:r>
              <a:rPr sz="1800" b="0">
                <a:solidFill>
                  <a:srgbClr val="E2E8F0"/>
                </a:solidFill>
                <a:latin typeface="Microsoft YaHei"/>
                <a:ea typeface="Microsoft YaHei"/>
              </a:rPr>
              <a:t>每个图都有唯一的装饰</a:t>
            </a:r>
            <a:r>
              <a:rPr sz="1800" b="0">
                <a:solidFill>
                  <a:srgbClr val="E2E8F0"/>
                </a:solidFill>
                <a:latin typeface="Arial"/>
                <a:ea typeface="Microsoft YaHei"/>
              </a:rPr>
              <a:t>。”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8056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Arial"/>
                <a:ea typeface="Microsoft YaHei"/>
              </a:rPr>
              <a:t>—— Peter Aczel, 1988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8064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</a:rPr>
              <a:t>自学教材</a:t>
            </a:r>
            <a:r>
              <a:rPr sz="1300" b="0">
                <a:solidFill>
                  <a:srgbClr val="94A3B8"/>
                </a:solidFill>
                <a:latin typeface="Cambria Math"/>
                <a:ea typeface="Microsoft YaHei"/>
              </a:rPr>
              <a:t> · 16 </a:t>
            </a:r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</a:rPr>
              <a:t>周课程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Arial"/>
                <a:ea typeface="Microsoft YaHei"/>
              </a:rPr>
              <a:t>AFA </a:t>
            </a:r>
            <a:r>
              <a:rPr sz="1000" b="0">
                <a:solidFill>
                  <a:srgbClr val="CBD5E1"/>
                </a:solidFill>
                <a:latin typeface="Microsoft YaHei"/>
                <a:ea typeface="Microsoft YaHei"/>
              </a:rPr>
              <a:t>与进程代数</a:t>
            </a:r>
            <a:r>
              <a:rPr sz="1000" b="0">
                <a:solidFill>
                  <a:srgbClr val="CBD5E1"/>
                </a:solidFill>
                <a:latin typeface="Cambria Math"/>
                <a:ea typeface="Microsoft YaHei"/>
              </a:rPr>
              <a:t> ·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Arial"/>
                <a:ea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课程地图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8229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</a:rPr>
              <a:t>四篇十三章</a:t>
            </a:r>
            <a:r>
              <a:rPr sz="3000" b="1">
                <a:solidFill>
                  <a:srgbClr val="0F172A"/>
                </a:solidFill>
                <a:latin typeface="Arial"/>
                <a:ea typeface="Microsoft YaHei"/>
              </a:rPr>
              <a:t>，</a:t>
            </a: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</a:rPr>
              <a:t>一条主线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68680"/>
            <a:ext cx="82296" cy="640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051560" y="1627632"/>
            <a:ext cx="102870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fig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174" y="1828800"/>
            <a:ext cx="7261411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" y="5989320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图</a:t>
            </a:r>
            <a:r>
              <a:rPr sz="1200" b="0">
                <a:solidFill>
                  <a:srgbClr val="64748B"/>
                </a:solidFill>
                <a:latin typeface="Arial"/>
                <a:ea typeface="Microsoft YaHei"/>
              </a:rPr>
              <a:t> 0-1　</a:t>
            </a: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本书结构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AFA </a:t>
            </a: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与进程代数</a:t>
            </a:r>
            <a:r>
              <a:rPr sz="1000" b="0">
                <a:solidFill>
                  <a:srgbClr val="64748B"/>
                </a:solidFill>
                <a:latin typeface="Cambria Math"/>
                <a:ea typeface="Microsoft YaHei"/>
              </a:rPr>
              <a:t>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920240"/>
            <a:ext cx="29260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1">
                <a:solidFill>
                  <a:srgbClr val="1D4ED8"/>
                </a:solidFill>
                <a:latin typeface="Arial"/>
                <a:ea typeface="Microsoft YaHe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56616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</a:rPr>
              <a:t>非良基集合论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44348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94A3B8"/>
                </a:solidFill>
                <a:latin typeface="Microsoft YaHei"/>
                <a:ea typeface="Microsoft YaHei"/>
              </a:rPr>
              <a:t>从基础公理的困境到超全集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51560" y="4206240"/>
            <a:ext cx="2788920" cy="0"/>
          </a:xfrm>
          <a:prstGeom prst="line">
            <a:avLst/>
          </a:prstGeom>
          <a:ln w="3810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Arial"/>
                <a:ea typeface="Microsoft YaHei"/>
              </a:rPr>
              <a:t>AFA </a:t>
            </a:r>
            <a:r>
              <a:rPr sz="1000" b="0">
                <a:solidFill>
                  <a:srgbClr val="CBD5E1"/>
                </a:solidFill>
                <a:latin typeface="Microsoft YaHei"/>
                <a:ea typeface="Microsoft YaHei"/>
              </a:rPr>
              <a:t>与进程代数</a:t>
            </a:r>
            <a:r>
              <a:rPr sz="1000" b="0">
                <a:solidFill>
                  <a:srgbClr val="CBD5E1"/>
                </a:solidFill>
                <a:latin typeface="Cambria Math"/>
                <a:ea typeface="Microsoft YaHei"/>
              </a:rPr>
              <a:t>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Arial"/>
                <a:ea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导论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8229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</a:rPr>
              <a:t>一个方程引出的世界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68680"/>
            <a:ext cx="82296" cy="640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051560" y="1627632"/>
            <a:ext cx="102870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7280" y="1965960"/>
            <a:ext cx="10607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集合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：x = {x}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进程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：X = a.X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流</a:t>
            </a:r>
            <a:r>
              <a:rPr sz="1900" b="0">
                <a:solidFill>
                  <a:srgbClr val="0F172A"/>
                </a:solidFill>
                <a:latin typeface="Cambria Math"/>
                <a:ea typeface="Microsoft YaHei"/>
              </a:rPr>
              <a:t>：s = ⟨0, s⟩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共同形式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：x = f(x)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ZFC：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无解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；AFA：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恰有一解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AFA </a:t>
            </a: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与进程代数</a:t>
            </a:r>
            <a:r>
              <a:rPr sz="1000" b="0">
                <a:solidFill>
                  <a:srgbClr val="64748B"/>
                </a:solidFill>
                <a:latin typeface="Cambria Math"/>
                <a:ea typeface="Microsoft YaHei"/>
              </a:rPr>
              <a:t>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第</a:t>
            </a:r>
            <a:r>
              <a:rPr sz="1200" b="1">
                <a:solidFill>
                  <a:srgbClr val="64748B"/>
                </a:solidFill>
                <a:latin typeface="Arial"/>
                <a:ea typeface="Microsoft YaHei"/>
              </a:rPr>
              <a:t> 1 </a:t>
            </a: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8229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Arial"/>
                <a:ea typeface="Microsoft YaHei"/>
              </a:rPr>
              <a:t>ZFC </a:t>
            </a: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</a:rPr>
              <a:t>的答案</a:t>
            </a:r>
            <a:r>
              <a:rPr sz="3000" b="1">
                <a:solidFill>
                  <a:srgbClr val="0F172A"/>
                </a:solidFill>
                <a:latin typeface="Arial"/>
                <a:ea typeface="Microsoft YaHei"/>
              </a:rPr>
              <a:t>：</a:t>
            </a: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</a:rPr>
              <a:t>无解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68680"/>
            <a:ext cx="82296" cy="640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051560" y="1627632"/>
            <a:ext cx="102870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7280" y="1965960"/>
            <a:ext cx="10607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基础公理</a:t>
            </a:r>
            <a:r>
              <a:rPr sz="1900" b="0">
                <a:solidFill>
                  <a:srgbClr val="0F172A"/>
                </a:solidFill>
                <a:latin typeface="Cambria Math"/>
                <a:ea typeface="Microsoft YaHei"/>
              </a:rPr>
              <a:t>（FA）：∈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是良基的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，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不存在无穷降链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x = {x}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推出</a:t>
            </a:r>
            <a:r>
              <a:rPr sz="1900" b="0">
                <a:solidFill>
                  <a:srgbClr val="0F172A"/>
                </a:solidFill>
                <a:latin typeface="Cambria Math"/>
                <a:ea typeface="Microsoft YaHei"/>
              </a:rPr>
              <a:t> x ∈ x，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与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 FA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矛盾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Cambria Math"/>
                <a:ea typeface="Microsoft YaHei"/>
              </a:rPr>
              <a:t>s = ⟨0, s⟩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推出无穷降链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 s ∋ {0,s} ∋ s ∋ …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但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“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无解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”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是一条公理的选择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，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不是逻辑必然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AFA </a:t>
            </a: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与进程代数</a:t>
            </a:r>
            <a:r>
              <a:rPr sz="1000" b="0">
                <a:solidFill>
                  <a:srgbClr val="64748B"/>
                </a:solidFill>
                <a:latin typeface="Cambria Math"/>
                <a:ea typeface="Microsoft YaHei"/>
              </a:rPr>
              <a:t>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第</a:t>
            </a:r>
            <a:r>
              <a:rPr sz="1200" b="1">
                <a:solidFill>
                  <a:srgbClr val="64748B"/>
                </a:solidFill>
                <a:latin typeface="Arial"/>
                <a:ea typeface="Microsoft YaHei"/>
              </a:rPr>
              <a:t> 1 </a:t>
            </a: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8229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</a:rPr>
              <a:t>两种集合观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68680"/>
            <a:ext cx="82296" cy="640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051560" y="1627632"/>
            <a:ext cx="102870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7280" y="1965960"/>
            <a:ext cx="10607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迭代</a:t>
            </a:r>
            <a:r>
              <a:rPr sz="1900" b="0">
                <a:solidFill>
                  <a:srgbClr val="0F172A"/>
                </a:solidFill>
                <a:latin typeface="Cambria Math"/>
                <a:ea typeface="Microsoft YaHei"/>
              </a:rPr>
              <a:t>：V₀ = ∅，V(α+1) = ℘(Vα)，V = ⋃ Vα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余迭代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：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集合由它的观察图决定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一个自下而上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，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一个自上而下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AFA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选择后者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：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允许循环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，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要求唯一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AFA </a:t>
            </a: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与进程代数</a:t>
            </a:r>
            <a:r>
              <a:rPr sz="1000" b="0">
                <a:solidFill>
                  <a:srgbClr val="64748B"/>
                </a:solidFill>
                <a:latin typeface="Cambria Math"/>
                <a:ea typeface="Microsoft YaHei"/>
              </a:rPr>
              <a:t>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第</a:t>
            </a:r>
            <a:r>
              <a:rPr sz="1200" b="1">
                <a:solidFill>
                  <a:srgbClr val="64748B"/>
                </a:solidFill>
                <a:latin typeface="Arial"/>
                <a:ea typeface="Microsoft YaHei"/>
              </a:rPr>
              <a:t> 2 </a:t>
            </a: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8229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Arial"/>
                <a:ea typeface="Microsoft YaHei"/>
              </a:rPr>
              <a:t>ZFA </a:t>
            </a: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</a:rPr>
              <a:t>与</a:t>
            </a:r>
            <a:r>
              <a:rPr sz="3000" b="1">
                <a:solidFill>
                  <a:srgbClr val="0F172A"/>
                </a:solidFill>
                <a:latin typeface="Arial"/>
                <a:ea typeface="Microsoft YaHei"/>
              </a:rPr>
              <a:t> AFA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68680"/>
            <a:ext cx="82296" cy="640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051560" y="1627632"/>
            <a:ext cx="102870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7280" y="1965960"/>
            <a:ext cx="10607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ZFA = ZFC − FA +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原子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AFA：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每个图都有唯一的装饰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相对一致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：ZFC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一致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 ⟹ ZFA + AFA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一致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AFA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蕴含</a:t>
            </a:r>
            <a:r>
              <a:rPr sz="1900" b="0">
                <a:solidFill>
                  <a:srgbClr val="0F172A"/>
                </a:solidFill>
                <a:latin typeface="Cambria Math"/>
                <a:ea typeface="Microsoft YaHei"/>
              </a:rPr>
              <a:t> ¬FA（Ω ∈ Ω），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但不蕴含有全集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AFA </a:t>
            </a: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与进程代数</a:t>
            </a:r>
            <a:r>
              <a:rPr sz="1000" b="0">
                <a:solidFill>
                  <a:srgbClr val="64748B"/>
                </a:solidFill>
                <a:latin typeface="Cambria Math"/>
                <a:ea typeface="Microsoft YaHei"/>
              </a:rPr>
              <a:t>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第</a:t>
            </a:r>
            <a:r>
              <a:rPr sz="1200" b="1">
                <a:solidFill>
                  <a:srgbClr val="64748B"/>
                </a:solidFill>
                <a:latin typeface="Arial"/>
                <a:ea typeface="Microsoft YaHei"/>
              </a:rPr>
              <a:t> 2 </a:t>
            </a: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8229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</a:rPr>
              <a:t>图与装饰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68680"/>
            <a:ext cx="82296" cy="640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051560" y="1627632"/>
            <a:ext cx="102870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7280" y="1965960"/>
            <a:ext cx="10607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图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 G = (V, E)，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边</a:t>
            </a:r>
            <a:r>
              <a:rPr sz="1900" b="0">
                <a:solidFill>
                  <a:srgbClr val="0F172A"/>
                </a:solidFill>
                <a:latin typeface="Cambria Math"/>
                <a:ea typeface="Microsoft YaHei"/>
              </a:rPr>
              <a:t> v → w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装饰</a:t>
            </a:r>
            <a:r>
              <a:rPr sz="1900" b="0">
                <a:solidFill>
                  <a:srgbClr val="0F172A"/>
                </a:solidFill>
                <a:latin typeface="Cambria Math"/>
                <a:ea typeface="Microsoft YaHei"/>
              </a:rPr>
              <a:t> d(v) = { d(w) | v → w }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唯一性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：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图完全决定集合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自环装饰为</a:t>
            </a:r>
            <a:r>
              <a:rPr sz="1900" b="0">
                <a:solidFill>
                  <a:srgbClr val="0F172A"/>
                </a:solidFill>
                <a:latin typeface="Cambria Math"/>
                <a:ea typeface="Microsoft YaHei"/>
              </a:rPr>
              <a:t> Ω = {Ω}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带出口的循环装饰为</a:t>
            </a:r>
            <a:r>
              <a:rPr sz="1900" b="0">
                <a:solidFill>
                  <a:srgbClr val="0F172A"/>
                </a:solidFill>
                <a:latin typeface="Cambria Math"/>
                <a:ea typeface="Microsoft YaHei"/>
              </a:rPr>
              <a:t> Ω_∅ = {∅, Ω_∅}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AFA </a:t>
            </a: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与进程代数</a:t>
            </a:r>
            <a:r>
              <a:rPr sz="1000" b="0">
                <a:solidFill>
                  <a:srgbClr val="64748B"/>
                </a:solidFill>
                <a:latin typeface="Cambria Math"/>
                <a:ea typeface="Microsoft YaHei"/>
              </a:rPr>
              <a:t>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第</a:t>
            </a:r>
            <a:r>
              <a:rPr sz="1200" b="1">
                <a:solidFill>
                  <a:srgbClr val="64748B"/>
                </a:solidFill>
                <a:latin typeface="Arial"/>
                <a:ea typeface="Microsoft YaHei"/>
              </a:rPr>
              <a:t> 2 </a:t>
            </a: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8229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</a:rPr>
              <a:t>反基础公理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68680"/>
            <a:ext cx="82296" cy="640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051560" y="1627632"/>
            <a:ext cx="102870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7280" y="1965960"/>
            <a:ext cx="10607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每个图都有唯一的装饰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存在性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：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循环对象合法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唯一性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：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循环对象确定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一条一阶语句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，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不是公理模式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AFA </a:t>
            </a: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与进程代数</a:t>
            </a:r>
            <a:r>
              <a:rPr sz="1000" b="0">
                <a:solidFill>
                  <a:srgbClr val="64748B"/>
                </a:solidFill>
                <a:latin typeface="Cambria Math"/>
                <a:ea typeface="Microsoft YaHei"/>
              </a:rPr>
              <a:t>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第</a:t>
            </a:r>
            <a:r>
              <a:rPr sz="1200" b="1">
                <a:solidFill>
                  <a:srgbClr val="64748B"/>
                </a:solidFill>
                <a:latin typeface="Arial"/>
                <a:ea typeface="Microsoft YaHei"/>
              </a:rPr>
              <a:t> 2 </a:t>
            </a: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8229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</a:rPr>
              <a:t>纯循环都装饰为</a:t>
            </a:r>
            <a:r>
              <a:rPr sz="3000" b="1">
                <a:solidFill>
                  <a:srgbClr val="0F172A"/>
                </a:solidFill>
                <a:latin typeface="Cambria Math"/>
                <a:ea typeface="Microsoft YaHei"/>
              </a:rPr>
              <a:t> Ω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68680"/>
            <a:ext cx="82296" cy="640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051560" y="1627632"/>
            <a:ext cx="102870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7280" y="2011680"/>
            <a:ext cx="42062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>
                <a:solidFill>
                  <a:srgbClr val="1D4ED8"/>
                </a:solidFill>
                <a:latin typeface="Arial"/>
              </a:rPr>
              <a:t>•  </a:t>
            </a:r>
            <a:r>
              <a:rPr sz="1700" b="0">
                <a:solidFill>
                  <a:srgbClr val="0F172A"/>
                </a:solidFill>
                <a:latin typeface="Microsoft YaHei"/>
                <a:ea typeface="Microsoft YaHei"/>
              </a:rPr>
              <a:t>常值</a:t>
            </a:r>
            <a:r>
              <a:rPr sz="1700" b="0">
                <a:solidFill>
                  <a:srgbClr val="0F172A"/>
                </a:solidFill>
                <a:latin typeface="Cambria Math"/>
                <a:ea typeface="Microsoft YaHei"/>
              </a:rPr>
              <a:t> Ω </a:t>
            </a:r>
            <a:r>
              <a:rPr sz="1700" b="0">
                <a:solidFill>
                  <a:srgbClr val="0F172A"/>
                </a:solidFill>
                <a:latin typeface="Microsoft YaHei"/>
                <a:ea typeface="Microsoft YaHei"/>
              </a:rPr>
              <a:t>装饰满足方程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>
                <a:solidFill>
                  <a:srgbClr val="1D4ED8"/>
                </a:solidFill>
                <a:latin typeface="Arial"/>
              </a:rPr>
              <a:t>•  </a:t>
            </a:r>
            <a:r>
              <a:rPr sz="1700" b="0">
                <a:solidFill>
                  <a:srgbClr val="0F172A"/>
                </a:solidFill>
                <a:latin typeface="Microsoft YaHei"/>
                <a:ea typeface="Microsoft YaHei"/>
              </a:rPr>
              <a:t>由唯一性</a:t>
            </a:r>
            <a:r>
              <a:rPr sz="1700" b="0">
                <a:solidFill>
                  <a:srgbClr val="0F172A"/>
                </a:solidFill>
                <a:latin typeface="Arial"/>
                <a:ea typeface="Microsoft YaHei"/>
              </a:rPr>
              <a:t>，</a:t>
            </a:r>
            <a:r>
              <a:rPr sz="1700" b="0">
                <a:solidFill>
                  <a:srgbClr val="0F172A"/>
                </a:solidFill>
                <a:latin typeface="Microsoft YaHei"/>
                <a:ea typeface="Microsoft YaHei"/>
              </a:rPr>
              <a:t>它就是唯一的装饰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>
                <a:solidFill>
                  <a:srgbClr val="1D4ED8"/>
                </a:solidFill>
                <a:latin typeface="Arial"/>
              </a:rPr>
              <a:t>•  </a:t>
            </a:r>
            <a:r>
              <a:rPr sz="1700" b="0">
                <a:solidFill>
                  <a:srgbClr val="0F172A"/>
                </a:solidFill>
                <a:latin typeface="Microsoft YaHei"/>
                <a:ea typeface="Microsoft YaHei"/>
              </a:rPr>
              <a:t>双节点循环与自环代表同一个集合</a:t>
            </a:r>
          </a:p>
        </p:txBody>
      </p:sp>
      <p:pic>
        <p:nvPicPr>
          <p:cNvPr id="7" name="Picture 6" descr="fig-omeg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912059"/>
            <a:ext cx="6217919" cy="194828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" y="5989320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图</a:t>
            </a:r>
            <a:r>
              <a:rPr sz="1200" b="0">
                <a:solidFill>
                  <a:srgbClr val="64748B"/>
                </a:solidFill>
                <a:latin typeface="Arial"/>
                <a:ea typeface="Microsoft YaHei"/>
              </a:rPr>
              <a:t> 2-1　</a:t>
            </a: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自环</a:t>
            </a:r>
            <a:r>
              <a:rPr sz="1200" b="0">
                <a:solidFill>
                  <a:srgbClr val="64748B"/>
                </a:solidFill>
                <a:latin typeface="Arial"/>
                <a:ea typeface="Microsoft YaHei"/>
              </a:rPr>
              <a:t>、</a:t>
            </a: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双节点循环</a:t>
            </a:r>
            <a:r>
              <a:rPr sz="1200" b="0">
                <a:solidFill>
                  <a:srgbClr val="64748B"/>
                </a:solidFill>
                <a:latin typeface="Arial"/>
                <a:ea typeface="Microsoft YaHei"/>
              </a:rPr>
              <a:t>、</a:t>
            </a: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三点循环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AFA </a:t>
            </a: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与进程代数</a:t>
            </a:r>
            <a:r>
              <a:rPr sz="1000" b="0">
                <a:solidFill>
                  <a:srgbClr val="64748B"/>
                </a:solidFill>
                <a:latin typeface="Cambria Math"/>
                <a:ea typeface="Microsoft YaHei"/>
              </a:rPr>
              <a:t>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第</a:t>
            </a:r>
            <a:r>
              <a:rPr sz="1200" b="1">
                <a:solidFill>
                  <a:srgbClr val="64748B"/>
                </a:solidFill>
                <a:latin typeface="Arial"/>
                <a:ea typeface="Microsoft YaHei"/>
              </a:rPr>
              <a:t> 3 </a:t>
            </a: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8229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</a:rPr>
              <a:t>互模拟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68680"/>
            <a:ext cx="82296" cy="640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051560" y="1627632"/>
            <a:ext cx="102870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7280" y="1965960"/>
            <a:ext cx="10607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关系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 R：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你走一步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，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我跟一步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（zig-zag）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最大互模拟</a:t>
            </a:r>
            <a:r>
              <a:rPr sz="1900" b="0">
                <a:solidFill>
                  <a:srgbClr val="0F172A"/>
                </a:solidFill>
                <a:latin typeface="Cambria Math"/>
                <a:ea typeface="Microsoft YaHei"/>
              </a:rPr>
              <a:t> ∼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是等价关系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所有叶子都等价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；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所有纯循环都等价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游戏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：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攻击者选一步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，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防守者匹配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AFA </a:t>
            </a: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与进程代数</a:t>
            </a:r>
            <a:r>
              <a:rPr sz="1000" b="0">
                <a:solidFill>
                  <a:srgbClr val="64748B"/>
                </a:solidFill>
                <a:latin typeface="Cambria Math"/>
                <a:ea typeface="Microsoft YaHei"/>
              </a:rPr>
              <a:t>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第</a:t>
            </a:r>
            <a:r>
              <a:rPr sz="1200" b="1">
                <a:solidFill>
                  <a:srgbClr val="64748B"/>
                </a:solidFill>
                <a:latin typeface="Arial"/>
                <a:ea typeface="Microsoft YaHei"/>
              </a:rPr>
              <a:t> 3 </a:t>
            </a: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8229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</a:rPr>
              <a:t>装饰定理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68680"/>
            <a:ext cx="82296" cy="640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051560" y="1627632"/>
            <a:ext cx="102870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7280" y="1965960"/>
            <a:ext cx="10607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Cambria Math"/>
                <a:ea typeface="Microsoft YaHei"/>
              </a:rPr>
              <a:t>d(x) = d(y) ⟺ x ∼ y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证明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：ker(d)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是互模拟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；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互模拟</a:t>
            </a:r>
            <a:r>
              <a:rPr sz="1900" b="0">
                <a:solidFill>
                  <a:srgbClr val="0F172A"/>
                </a:solidFill>
                <a:latin typeface="Cambria Math"/>
                <a:ea typeface="Microsoft YaHei"/>
              </a:rPr>
              <a:t> ⊆ ker(d)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集合相等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 =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行为等价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商图</a:t>
            </a:r>
            <a:r>
              <a:rPr sz="1900" b="0">
                <a:solidFill>
                  <a:srgbClr val="0F172A"/>
                </a:solidFill>
                <a:latin typeface="Cambria Math"/>
                <a:ea typeface="Microsoft YaHei"/>
              </a:rPr>
              <a:t> G/∼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总是外延的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AFA </a:t>
            </a: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与进程代数</a:t>
            </a:r>
            <a:r>
              <a:rPr sz="1000" b="0">
                <a:solidFill>
                  <a:srgbClr val="64748B"/>
                </a:solidFill>
                <a:latin typeface="Cambria Math"/>
                <a:ea typeface="Microsoft YaHei"/>
              </a:rPr>
              <a:t>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第</a:t>
            </a:r>
            <a:r>
              <a:rPr sz="1200" b="1">
                <a:solidFill>
                  <a:srgbClr val="64748B"/>
                </a:solidFill>
                <a:latin typeface="Arial"/>
                <a:ea typeface="Microsoft YaHei"/>
              </a:rPr>
              <a:t> 3 </a:t>
            </a: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8229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</a:rPr>
              <a:t>超全集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68680"/>
            <a:ext cx="82296" cy="640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051560" y="1627632"/>
            <a:ext cx="102870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7280" y="1965960"/>
            <a:ext cx="10607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V_A = { d(v) | v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是某个图的节点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 }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每个集合都是其</a:t>
            </a:r>
            <a:r>
              <a:rPr sz="1900" b="0">
                <a:solidFill>
                  <a:srgbClr val="0F172A"/>
                </a:solidFill>
                <a:latin typeface="Cambria Math"/>
                <a:ea typeface="Microsoft YaHei"/>
              </a:rPr>
              <a:t> ∈-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图的装饰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V_A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是真类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（Russell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悖论仍然有效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）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良基集合</a:t>
            </a:r>
            <a:r>
              <a:rPr sz="1900" b="0">
                <a:solidFill>
                  <a:srgbClr val="0F172A"/>
                </a:solidFill>
                <a:latin typeface="Cambria Math"/>
                <a:ea typeface="Microsoft YaHei"/>
              </a:rPr>
              <a:t> WF ⊂ V_A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AFA </a:t>
            </a: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与进程代数</a:t>
            </a:r>
            <a:r>
              <a:rPr sz="1000" b="0">
                <a:solidFill>
                  <a:srgbClr val="64748B"/>
                </a:solidFill>
                <a:latin typeface="Cambria Math"/>
                <a:ea typeface="Microsoft YaHei"/>
              </a:rPr>
              <a:t>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第</a:t>
            </a:r>
            <a:r>
              <a:rPr sz="1200" b="1">
                <a:solidFill>
                  <a:srgbClr val="64748B"/>
                </a:solidFill>
                <a:latin typeface="Arial"/>
                <a:ea typeface="Microsoft YaHei"/>
              </a:rPr>
              <a:t> 4 </a:t>
            </a: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8229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</a:rPr>
              <a:t>解引理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68680"/>
            <a:ext cx="82296" cy="640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051560" y="1627632"/>
            <a:ext cx="102870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7280" y="1965960"/>
            <a:ext cx="10607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方程系统</a:t>
            </a:r>
            <a:r>
              <a:rPr sz="1900" b="0">
                <a:solidFill>
                  <a:srgbClr val="0F172A"/>
                </a:solidFill>
                <a:latin typeface="Cambria Math"/>
                <a:ea typeface="Microsoft YaHei"/>
              </a:rPr>
              <a:t> x ≈ a_x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有限项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：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把方程画成图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，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取装饰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每个系统有唯一解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Cambria Math"/>
                <a:ea typeface="Microsoft YaHei"/>
              </a:rPr>
              <a:t>x = {x} → Ω；x = {∅, x} → Ω_∅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AFA </a:t>
            </a: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与进程代数</a:t>
            </a:r>
            <a:r>
              <a:rPr sz="1000" b="0">
                <a:solidFill>
                  <a:srgbClr val="64748B"/>
                </a:solidFill>
                <a:latin typeface="Cambria Math"/>
                <a:ea typeface="Microsoft YaHei"/>
              </a:rPr>
              <a:t>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第</a:t>
            </a:r>
            <a:r>
              <a:rPr sz="1200" b="1">
                <a:solidFill>
                  <a:srgbClr val="64748B"/>
                </a:solidFill>
                <a:latin typeface="Arial"/>
                <a:ea typeface="Microsoft YaHei"/>
              </a:rPr>
              <a:t> 4 </a:t>
            </a: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8229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</a:rPr>
              <a:t>余归纳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68680"/>
            <a:ext cx="82296" cy="640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051560" y="1627632"/>
            <a:ext cx="102870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7280" y="1965960"/>
            <a:ext cx="10607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要证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 x = y：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找互模拟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 R，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使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 x R y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无需基始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；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闭合即可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例</a:t>
            </a:r>
            <a:r>
              <a:rPr sz="1900" b="0">
                <a:solidFill>
                  <a:srgbClr val="0F172A"/>
                </a:solidFill>
                <a:latin typeface="Cambria Math"/>
                <a:ea typeface="Microsoft YaHei"/>
              </a:rPr>
              <a:t>：Ω = {Ω}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余归纳对偶于归纳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：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一个兜底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，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一个盖楼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AFA </a:t>
            </a: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与进程代数</a:t>
            </a:r>
            <a:r>
              <a:rPr sz="1000" b="0">
                <a:solidFill>
                  <a:srgbClr val="64748B"/>
                </a:solidFill>
                <a:latin typeface="Cambria Math"/>
                <a:ea typeface="Microsoft YaHei"/>
              </a:rPr>
              <a:t>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第</a:t>
            </a:r>
            <a:r>
              <a:rPr sz="1200" b="1">
                <a:solidFill>
                  <a:srgbClr val="64748B"/>
                </a:solidFill>
                <a:latin typeface="Arial"/>
                <a:ea typeface="Microsoft YaHei"/>
              </a:rPr>
              <a:t> 5 </a:t>
            </a: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8229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</a:rPr>
              <a:t>余代数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68680"/>
            <a:ext cx="82296" cy="640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051560" y="1627632"/>
            <a:ext cx="102870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7280" y="1965960"/>
            <a:ext cx="10607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函子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 F；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余代数</a:t>
            </a:r>
            <a:r>
              <a:rPr sz="1900" b="0">
                <a:solidFill>
                  <a:srgbClr val="0F172A"/>
                </a:solidFill>
                <a:latin typeface="Cambria Math"/>
                <a:ea typeface="Microsoft YaHei"/>
              </a:rPr>
              <a:t> (X, ξ: X → F(X))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同态</a:t>
            </a:r>
            <a:r>
              <a:rPr sz="1900" b="0">
                <a:solidFill>
                  <a:srgbClr val="0F172A"/>
                </a:solidFill>
                <a:latin typeface="Cambria Math"/>
                <a:ea typeface="Microsoft YaHei"/>
              </a:rPr>
              <a:t>：θ ∘ f = F(f) ∘ ξ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图</a:t>
            </a:r>
            <a:r>
              <a:rPr sz="1900" b="0">
                <a:solidFill>
                  <a:srgbClr val="0F172A"/>
                </a:solidFill>
                <a:latin typeface="Cambria Math"/>
                <a:ea typeface="Microsoft YaHei"/>
              </a:rPr>
              <a:t> = ℘-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余代数</a:t>
            </a:r>
            <a:r>
              <a:rPr sz="1900" b="0">
                <a:solidFill>
                  <a:srgbClr val="0F172A"/>
                </a:solidFill>
                <a:latin typeface="Cambria Math"/>
                <a:ea typeface="Microsoft YaHei"/>
              </a:rPr>
              <a:t>；LTS = ℘(L×−)-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余代数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装饰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 =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到终余代数的同态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AFA </a:t>
            </a: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与进程代数</a:t>
            </a:r>
            <a:r>
              <a:rPr sz="1000" b="0">
                <a:solidFill>
                  <a:srgbClr val="64748B"/>
                </a:solidFill>
                <a:latin typeface="Cambria Math"/>
                <a:ea typeface="Microsoft YaHei"/>
              </a:rPr>
              <a:t>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第</a:t>
            </a:r>
            <a:r>
              <a:rPr sz="1200" b="1">
                <a:solidFill>
                  <a:srgbClr val="64748B"/>
                </a:solidFill>
                <a:latin typeface="Arial"/>
                <a:ea typeface="Microsoft YaHei"/>
              </a:rPr>
              <a:t> 5 </a:t>
            </a: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8229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</a:rPr>
              <a:t>终余代数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68680"/>
            <a:ext cx="82296" cy="640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051560" y="1627632"/>
            <a:ext cx="102870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7280" y="1965960"/>
            <a:ext cx="10607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每个余代数都唯一地指向它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(V_A, id)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是</a:t>
            </a:r>
            <a:r>
              <a:rPr sz="1900" b="0">
                <a:solidFill>
                  <a:srgbClr val="0F172A"/>
                </a:solidFill>
                <a:latin typeface="Cambria Math"/>
                <a:ea typeface="Microsoft YaHei"/>
              </a:rPr>
              <a:t> ℘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的终余代数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终性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 =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装饰的存在唯一性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ZFC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中没有终余代数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（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否则</a:t>
            </a:r>
            <a:r>
              <a:rPr sz="1900" b="0">
                <a:solidFill>
                  <a:srgbClr val="0F172A"/>
                </a:solidFill>
                <a:latin typeface="Cambria Math"/>
                <a:ea typeface="Microsoft YaHei"/>
              </a:rPr>
              <a:t> Ω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存在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AFA </a:t>
            </a: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与进程代数</a:t>
            </a:r>
            <a:r>
              <a:rPr sz="1000" b="0">
                <a:solidFill>
                  <a:srgbClr val="64748B"/>
                </a:solidFill>
                <a:latin typeface="Cambria Math"/>
                <a:ea typeface="Microsoft YaHei"/>
              </a:rPr>
              <a:t>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920240"/>
            <a:ext cx="29260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1">
                <a:solidFill>
                  <a:srgbClr val="1D4ED8"/>
                </a:solidFill>
                <a:latin typeface="Arial"/>
                <a:ea typeface="Microsoft YaHe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56616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</a:rPr>
              <a:t>进程代数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44348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94A3B8"/>
                </a:solidFill>
                <a:latin typeface="Cambria Math"/>
                <a:ea typeface="Microsoft YaHei"/>
              </a:rPr>
              <a:t>LTS · CCS · </a:t>
            </a:r>
            <a:r>
              <a:rPr sz="1800" b="0">
                <a:solidFill>
                  <a:srgbClr val="94A3B8"/>
                </a:solidFill>
                <a:latin typeface="Microsoft YaHei"/>
                <a:ea typeface="Microsoft YaHei"/>
              </a:rPr>
              <a:t>弱互模拟</a:t>
            </a:r>
            <a:r>
              <a:rPr sz="1800" b="0">
                <a:solidFill>
                  <a:srgbClr val="94A3B8"/>
                </a:solidFill>
                <a:latin typeface="Cambria Math"/>
                <a:ea typeface="Microsoft YaHei"/>
              </a:rPr>
              <a:t> · ACP · π-</a:t>
            </a:r>
            <a:r>
              <a:rPr sz="1800" b="0">
                <a:solidFill>
                  <a:srgbClr val="94A3B8"/>
                </a:solidFill>
                <a:latin typeface="Microsoft YaHei"/>
                <a:ea typeface="Microsoft YaHei"/>
              </a:rPr>
              <a:t>演算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51560" y="4206240"/>
            <a:ext cx="2788920" cy="0"/>
          </a:xfrm>
          <a:prstGeom prst="line">
            <a:avLst/>
          </a:prstGeom>
          <a:ln w="3810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Arial"/>
                <a:ea typeface="Microsoft YaHei"/>
              </a:rPr>
              <a:t>AFA </a:t>
            </a:r>
            <a:r>
              <a:rPr sz="1000" b="0">
                <a:solidFill>
                  <a:srgbClr val="CBD5E1"/>
                </a:solidFill>
                <a:latin typeface="Microsoft YaHei"/>
                <a:ea typeface="Microsoft YaHei"/>
              </a:rPr>
              <a:t>与进程代数</a:t>
            </a:r>
            <a:r>
              <a:rPr sz="1000" b="0">
                <a:solidFill>
                  <a:srgbClr val="CBD5E1"/>
                </a:solidFill>
                <a:latin typeface="Cambria Math"/>
                <a:ea typeface="Microsoft YaHei"/>
              </a:rPr>
              <a:t>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Arial"/>
                <a:ea typeface="Microsoft Ya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第</a:t>
            </a:r>
            <a:r>
              <a:rPr sz="1200" b="1">
                <a:solidFill>
                  <a:srgbClr val="64748B"/>
                </a:solidFill>
                <a:latin typeface="Arial"/>
                <a:ea typeface="Microsoft YaHei"/>
              </a:rPr>
              <a:t> 6 </a:t>
            </a: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8229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</a:rPr>
              <a:t>进程与</a:t>
            </a:r>
            <a:r>
              <a:rPr sz="3000" b="1">
                <a:solidFill>
                  <a:srgbClr val="0F172A"/>
                </a:solidFill>
                <a:latin typeface="Arial"/>
                <a:ea typeface="Microsoft YaHei"/>
              </a:rPr>
              <a:t> 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68680"/>
            <a:ext cx="82296" cy="640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051560" y="1627632"/>
            <a:ext cx="102870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7280" y="1965960"/>
            <a:ext cx="10607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标号迁移系统</a:t>
            </a:r>
            <a:r>
              <a:rPr sz="1900" b="0">
                <a:solidFill>
                  <a:srgbClr val="0F172A"/>
                </a:solidFill>
                <a:latin typeface="Cambria Math"/>
                <a:ea typeface="Microsoft YaHei"/>
              </a:rPr>
              <a:t> (S, Act, →)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迹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：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动作序列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；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迹等价太粗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a.(b+c)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与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 a.b+a.c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的迹相同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，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行为不同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需要保留分支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：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互模拟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AFA </a:t>
            </a: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与进程代数</a:t>
            </a:r>
            <a:r>
              <a:rPr sz="1000" b="0">
                <a:solidFill>
                  <a:srgbClr val="64748B"/>
                </a:solidFill>
                <a:latin typeface="Cambria Math"/>
                <a:ea typeface="Microsoft YaHei"/>
              </a:rPr>
              <a:t>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第</a:t>
            </a:r>
            <a:r>
              <a:rPr sz="1200" b="1">
                <a:solidFill>
                  <a:srgbClr val="64748B"/>
                </a:solidFill>
                <a:latin typeface="Arial"/>
                <a:ea typeface="Microsoft YaHei"/>
              </a:rPr>
              <a:t> 6 </a:t>
            </a: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8229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</a:rPr>
              <a:t>强互模拟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68680"/>
            <a:ext cx="82296" cy="640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051560" y="1627632"/>
            <a:ext cx="102870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7280" y="2011680"/>
            <a:ext cx="42062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>
                <a:solidFill>
                  <a:srgbClr val="1D4ED8"/>
                </a:solidFill>
                <a:latin typeface="Arial"/>
              </a:rPr>
              <a:t>•  </a:t>
            </a:r>
            <a:r>
              <a:rPr sz="1700" b="0">
                <a:solidFill>
                  <a:srgbClr val="0F172A"/>
                </a:solidFill>
                <a:latin typeface="Microsoft YaHei"/>
                <a:ea typeface="Microsoft YaHei"/>
              </a:rPr>
              <a:t>编号相同</a:t>
            </a:r>
            <a:r>
              <a:rPr sz="1700" b="0">
                <a:solidFill>
                  <a:srgbClr val="0F172A"/>
                </a:solidFill>
                <a:latin typeface="Arial"/>
                <a:ea typeface="Microsoft YaHei"/>
              </a:rPr>
              <a:t> = </a:t>
            </a:r>
            <a:r>
              <a:rPr sz="1700" b="0">
                <a:solidFill>
                  <a:srgbClr val="0F172A"/>
                </a:solidFill>
                <a:latin typeface="Microsoft YaHei"/>
                <a:ea typeface="Microsoft YaHei"/>
              </a:rPr>
              <a:t>互模拟对应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>
                <a:solidFill>
                  <a:srgbClr val="1D4ED8"/>
                </a:solidFill>
                <a:latin typeface="Arial"/>
              </a:rPr>
              <a:t>•  </a:t>
            </a:r>
            <a:r>
              <a:rPr sz="1700" b="0">
                <a:solidFill>
                  <a:srgbClr val="0F172A"/>
                </a:solidFill>
                <a:latin typeface="Arial"/>
                <a:ea typeface="Microsoft YaHei"/>
              </a:rPr>
              <a:t>P </a:t>
            </a:r>
            <a:r>
              <a:rPr sz="1700" b="0">
                <a:solidFill>
                  <a:srgbClr val="0F172A"/>
                </a:solidFill>
                <a:latin typeface="Microsoft YaHei"/>
                <a:ea typeface="Microsoft YaHei"/>
              </a:rPr>
              <a:t>与</a:t>
            </a:r>
            <a:r>
              <a:rPr sz="1700" b="0">
                <a:solidFill>
                  <a:srgbClr val="0F172A"/>
                </a:solidFill>
                <a:latin typeface="Arial"/>
                <a:ea typeface="Microsoft YaHei"/>
              </a:rPr>
              <a:t> Q </a:t>
            </a:r>
            <a:r>
              <a:rPr sz="1700" b="0">
                <a:solidFill>
                  <a:srgbClr val="0F172A"/>
                </a:solidFill>
                <a:latin typeface="Microsoft YaHei"/>
                <a:ea typeface="Microsoft YaHei"/>
              </a:rPr>
              <a:t>行为一致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>
                <a:solidFill>
                  <a:srgbClr val="1D4ED8"/>
                </a:solidFill>
                <a:latin typeface="Arial"/>
              </a:rPr>
              <a:t>•  </a:t>
            </a:r>
            <a:r>
              <a:rPr sz="1700" b="0">
                <a:solidFill>
                  <a:srgbClr val="0F172A"/>
                </a:solidFill>
                <a:latin typeface="Microsoft YaHei"/>
                <a:ea typeface="Microsoft YaHei"/>
              </a:rPr>
              <a:t>但</a:t>
            </a:r>
            <a:r>
              <a:rPr sz="1700" b="0">
                <a:solidFill>
                  <a:srgbClr val="0F172A"/>
                </a:solidFill>
                <a:latin typeface="Arial"/>
                <a:ea typeface="Microsoft YaHei"/>
              </a:rPr>
              <a:t> a.(b+c) </a:t>
            </a:r>
            <a:r>
              <a:rPr sz="1700" b="0">
                <a:solidFill>
                  <a:srgbClr val="0F172A"/>
                </a:solidFill>
                <a:latin typeface="Microsoft YaHei"/>
                <a:ea typeface="Microsoft YaHei"/>
              </a:rPr>
              <a:t>与</a:t>
            </a:r>
            <a:r>
              <a:rPr sz="1700" b="0">
                <a:solidFill>
                  <a:srgbClr val="0F172A"/>
                </a:solidFill>
                <a:latin typeface="Arial"/>
                <a:ea typeface="Microsoft YaHei"/>
              </a:rPr>
              <a:t> a.b+a.c </a:t>
            </a:r>
            <a:r>
              <a:rPr sz="1700" b="0">
                <a:solidFill>
                  <a:srgbClr val="0F172A"/>
                </a:solidFill>
                <a:latin typeface="Microsoft YaHei"/>
                <a:ea typeface="Microsoft YaHei"/>
              </a:rPr>
              <a:t>不互模拟</a:t>
            </a:r>
          </a:p>
        </p:txBody>
      </p:sp>
      <p:pic>
        <p:nvPicPr>
          <p:cNvPr id="7" name="Picture 6" descr="fig-bis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513969"/>
            <a:ext cx="6217920" cy="27444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" y="5989320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图</a:t>
            </a:r>
            <a:r>
              <a:rPr sz="1200" b="0">
                <a:solidFill>
                  <a:srgbClr val="64748B"/>
                </a:solidFill>
                <a:latin typeface="Arial"/>
                <a:ea typeface="Microsoft YaHei"/>
              </a:rPr>
              <a:t> 6-3　P = a.0|b.0 </a:t>
            </a: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与</a:t>
            </a:r>
            <a:r>
              <a:rPr sz="1200" b="0">
                <a:solidFill>
                  <a:srgbClr val="64748B"/>
                </a:solidFill>
                <a:latin typeface="Arial"/>
                <a:ea typeface="Microsoft YaHei"/>
              </a:rPr>
              <a:t> Q = a.b.0+b.a.0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AFA </a:t>
            </a: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与进程代数</a:t>
            </a:r>
            <a:r>
              <a:rPr sz="1000" b="0">
                <a:solidFill>
                  <a:srgbClr val="64748B"/>
                </a:solidFill>
                <a:latin typeface="Cambria Math"/>
                <a:ea typeface="Microsoft YaHei"/>
              </a:rPr>
              <a:t>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第</a:t>
            </a:r>
            <a:r>
              <a:rPr sz="1200" b="1">
                <a:solidFill>
                  <a:srgbClr val="64748B"/>
                </a:solidFill>
                <a:latin typeface="Arial"/>
                <a:ea typeface="Microsoft YaHei"/>
              </a:rPr>
              <a:t> 6 </a:t>
            </a: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8229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Arial"/>
                <a:ea typeface="Microsoft YaHei"/>
              </a:rPr>
              <a:t>Hennessy–Milner </a:t>
            </a: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</a:rPr>
              <a:t>逻辑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68680"/>
            <a:ext cx="82296" cy="640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051560" y="1627632"/>
            <a:ext cx="102870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7280" y="1965960"/>
            <a:ext cx="10607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Cambria Math"/>
                <a:ea typeface="Microsoft YaHei"/>
              </a:rPr>
              <a:t>φ ::= ⊤ | ¬φ | φ ∧ φ | ⟨a⟩φ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像有限时</a:t>
            </a:r>
            <a:r>
              <a:rPr sz="1900" b="0">
                <a:solidFill>
                  <a:srgbClr val="0F172A"/>
                </a:solidFill>
                <a:latin typeface="Cambria Math"/>
                <a:ea typeface="Microsoft YaHei"/>
              </a:rPr>
              <a:t>：∼ = HML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等价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区分公式</a:t>
            </a:r>
            <a:r>
              <a:rPr sz="1900" b="0">
                <a:solidFill>
                  <a:srgbClr val="0F172A"/>
                </a:solidFill>
                <a:latin typeface="Cambria Math"/>
                <a:ea typeface="Microsoft YaHei"/>
              </a:rPr>
              <a:t>：⟨a⟩(⟨b⟩⊤ ∧ ⟨c⟩⊤)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注意</a:t>
            </a:r>
            <a:r>
              <a:rPr sz="1900" b="0">
                <a:solidFill>
                  <a:srgbClr val="0F172A"/>
                </a:solidFill>
                <a:latin typeface="Cambria Math"/>
                <a:ea typeface="Microsoft YaHei"/>
              </a:rPr>
              <a:t> ⟨a⟩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是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“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存在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”，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不是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“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所有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AFA </a:t>
            </a: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与进程代数</a:t>
            </a:r>
            <a:r>
              <a:rPr sz="1000" b="0">
                <a:solidFill>
                  <a:srgbClr val="64748B"/>
                </a:solidFill>
                <a:latin typeface="Cambria Math"/>
                <a:ea typeface="Microsoft YaHei"/>
              </a:rPr>
              <a:t>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第</a:t>
            </a:r>
            <a:r>
              <a:rPr sz="1200" b="1">
                <a:solidFill>
                  <a:srgbClr val="64748B"/>
                </a:solidFill>
                <a:latin typeface="Arial"/>
                <a:ea typeface="Microsoft YaHei"/>
              </a:rPr>
              <a:t> 6 </a:t>
            </a: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8229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</a:rPr>
              <a:t>行为等价的谱系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68680"/>
            <a:ext cx="82296" cy="640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051560" y="1627632"/>
            <a:ext cx="102870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7280" y="2011680"/>
            <a:ext cx="42062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>
                <a:solidFill>
                  <a:srgbClr val="1D4ED8"/>
                </a:solidFill>
                <a:latin typeface="Arial"/>
              </a:rPr>
              <a:t>•  </a:t>
            </a:r>
            <a:r>
              <a:rPr sz="1700" b="0">
                <a:solidFill>
                  <a:srgbClr val="0F172A"/>
                </a:solidFill>
                <a:latin typeface="Microsoft YaHei"/>
                <a:ea typeface="Microsoft YaHei"/>
              </a:rPr>
              <a:t>迹</a:t>
            </a:r>
            <a:r>
              <a:rPr sz="1700" b="0">
                <a:solidFill>
                  <a:srgbClr val="0F172A"/>
                </a:solidFill>
                <a:latin typeface="Cambria Math"/>
                <a:ea typeface="Microsoft YaHei"/>
              </a:rPr>
              <a:t> ⊂ </a:t>
            </a:r>
            <a:r>
              <a:rPr sz="1700" b="0">
                <a:solidFill>
                  <a:srgbClr val="0F172A"/>
                </a:solidFill>
                <a:latin typeface="Microsoft YaHei"/>
                <a:ea typeface="Microsoft YaHei"/>
              </a:rPr>
              <a:t>失败</a:t>
            </a:r>
            <a:r>
              <a:rPr sz="1700" b="0">
                <a:solidFill>
                  <a:srgbClr val="0F172A"/>
                </a:solidFill>
                <a:latin typeface="Cambria Math"/>
                <a:ea typeface="Microsoft YaHei"/>
              </a:rPr>
              <a:t> ⊂ … ⊂ </a:t>
            </a:r>
            <a:r>
              <a:rPr sz="1700" b="0">
                <a:solidFill>
                  <a:srgbClr val="0F172A"/>
                </a:solidFill>
                <a:latin typeface="Microsoft YaHei"/>
                <a:ea typeface="Microsoft YaHei"/>
              </a:rPr>
              <a:t>互模拟</a:t>
            </a:r>
            <a:r>
              <a:rPr sz="1700" b="0">
                <a:solidFill>
                  <a:srgbClr val="0F172A"/>
                </a:solidFill>
                <a:latin typeface="Arial"/>
                <a:ea typeface="Microsoft YaHei"/>
              </a:rPr>
              <a:t>（</a:t>
            </a:r>
            <a:r>
              <a:rPr sz="1700" b="0">
                <a:solidFill>
                  <a:srgbClr val="0F172A"/>
                </a:solidFill>
                <a:latin typeface="Microsoft YaHei"/>
                <a:ea typeface="Microsoft YaHei"/>
              </a:rPr>
              <a:t>粗略</a:t>
            </a:r>
            <a:r>
              <a:rPr sz="1700" b="0">
                <a:solidFill>
                  <a:srgbClr val="0F172A"/>
                </a:solidFill>
                <a:latin typeface="Arial"/>
                <a:ea typeface="Microsoft YaHei"/>
              </a:rPr>
              <a:t>）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>
                <a:solidFill>
                  <a:srgbClr val="1D4ED8"/>
                </a:solidFill>
                <a:latin typeface="Arial"/>
              </a:rPr>
              <a:t>•  </a:t>
            </a:r>
            <a:r>
              <a:rPr sz="1700" b="0">
                <a:solidFill>
                  <a:srgbClr val="0F172A"/>
                </a:solidFill>
                <a:latin typeface="Microsoft YaHei"/>
                <a:ea typeface="Microsoft YaHei"/>
              </a:rPr>
              <a:t>实际构成偏序</a:t>
            </a:r>
            <a:r>
              <a:rPr sz="1700" b="0">
                <a:solidFill>
                  <a:srgbClr val="0F172A"/>
                </a:solidFill>
                <a:latin typeface="Arial"/>
                <a:ea typeface="Microsoft YaHei"/>
              </a:rPr>
              <a:t>，</a:t>
            </a:r>
            <a:r>
              <a:rPr sz="1700" b="0">
                <a:solidFill>
                  <a:srgbClr val="0F172A"/>
                </a:solidFill>
                <a:latin typeface="Microsoft YaHei"/>
                <a:ea typeface="Microsoft YaHei"/>
              </a:rPr>
              <a:t>不是全序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>
                <a:solidFill>
                  <a:srgbClr val="1D4ED8"/>
                </a:solidFill>
                <a:latin typeface="Arial"/>
              </a:rPr>
              <a:t>•  </a:t>
            </a:r>
            <a:r>
              <a:rPr sz="1700" b="0">
                <a:solidFill>
                  <a:srgbClr val="0F172A"/>
                </a:solidFill>
                <a:latin typeface="Microsoft YaHei"/>
                <a:ea typeface="Microsoft YaHei"/>
              </a:rPr>
              <a:t>互模拟</a:t>
            </a:r>
            <a:r>
              <a:rPr sz="1700" b="0">
                <a:solidFill>
                  <a:srgbClr val="0F172A"/>
                </a:solidFill>
                <a:latin typeface="Arial"/>
                <a:ea typeface="Microsoft YaHei"/>
              </a:rPr>
              <a:t>：</a:t>
            </a:r>
            <a:r>
              <a:rPr sz="1700" b="0">
                <a:solidFill>
                  <a:srgbClr val="0F172A"/>
                </a:solidFill>
                <a:latin typeface="Microsoft YaHei"/>
                <a:ea typeface="Microsoft YaHei"/>
              </a:rPr>
              <a:t>同余</a:t>
            </a:r>
            <a:r>
              <a:rPr sz="1700" b="0">
                <a:solidFill>
                  <a:srgbClr val="0F172A"/>
                </a:solidFill>
                <a:latin typeface="Arial"/>
                <a:ea typeface="Microsoft YaHei"/>
              </a:rPr>
              <a:t>、</a:t>
            </a:r>
            <a:r>
              <a:rPr sz="1700" b="0">
                <a:solidFill>
                  <a:srgbClr val="0F172A"/>
                </a:solidFill>
                <a:latin typeface="Microsoft YaHei"/>
                <a:ea typeface="Microsoft YaHei"/>
              </a:rPr>
              <a:t>可判定</a:t>
            </a:r>
            <a:r>
              <a:rPr sz="1700" b="0">
                <a:solidFill>
                  <a:srgbClr val="0F172A"/>
                </a:solidFill>
                <a:latin typeface="Arial"/>
                <a:ea typeface="Microsoft YaHei"/>
              </a:rPr>
              <a:t>、</a:t>
            </a:r>
            <a:r>
              <a:rPr sz="1700" b="0">
                <a:solidFill>
                  <a:srgbClr val="0F172A"/>
                </a:solidFill>
                <a:latin typeface="Microsoft YaHei"/>
                <a:ea typeface="Microsoft YaHei"/>
              </a:rPr>
              <a:t>逻辑刻画</a:t>
            </a:r>
          </a:p>
        </p:txBody>
      </p:sp>
      <p:pic>
        <p:nvPicPr>
          <p:cNvPr id="7" name="Picture 6" descr="fig-spectr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950674"/>
            <a:ext cx="6309359" cy="18710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" y="5989320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图</a:t>
            </a:r>
            <a:r>
              <a:rPr sz="1200" b="0">
                <a:solidFill>
                  <a:srgbClr val="64748B"/>
                </a:solidFill>
                <a:latin typeface="Arial"/>
                <a:ea typeface="Microsoft YaHei"/>
              </a:rPr>
              <a:t> 6-4　</a:t>
            </a: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常见行为等价</a:t>
            </a:r>
            <a:r>
              <a:rPr sz="1200" b="0">
                <a:solidFill>
                  <a:srgbClr val="64748B"/>
                </a:solidFill>
                <a:latin typeface="Arial"/>
                <a:ea typeface="Microsoft YaHei"/>
              </a:rPr>
              <a:t>（</a:t>
            </a: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粗略谱系</a:t>
            </a:r>
            <a:r>
              <a:rPr sz="1200" b="0">
                <a:solidFill>
                  <a:srgbClr val="64748B"/>
                </a:solidFill>
                <a:latin typeface="Arial"/>
                <a:ea typeface="Microsoft YaHei"/>
              </a:rPr>
              <a:t>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AFA </a:t>
            </a: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与进程代数</a:t>
            </a:r>
            <a:r>
              <a:rPr sz="1000" b="0">
                <a:solidFill>
                  <a:srgbClr val="64748B"/>
                </a:solidFill>
                <a:latin typeface="Cambria Math"/>
                <a:ea typeface="Microsoft YaHei"/>
              </a:rPr>
              <a:t>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第</a:t>
            </a:r>
            <a:r>
              <a:rPr sz="1200" b="1">
                <a:solidFill>
                  <a:srgbClr val="64748B"/>
                </a:solidFill>
                <a:latin typeface="Arial"/>
                <a:ea typeface="Microsoft YaHei"/>
              </a:rPr>
              <a:t> 7 </a:t>
            </a: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8229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Arial"/>
                <a:ea typeface="Microsoft YaHei"/>
              </a:rPr>
              <a:t>CCS </a:t>
            </a: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</a:rPr>
              <a:t>语法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68680"/>
            <a:ext cx="82296" cy="640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051560" y="1627632"/>
            <a:ext cx="102870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7280" y="1965960"/>
            <a:ext cx="10607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P ::= 0 | a.P | P+P | P|P | P\L | P[f] | rec X.P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守护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：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每个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 X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都在前缀之下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互补动作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 a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与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 ā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通信产生</a:t>
            </a:r>
            <a:r>
              <a:rPr sz="1900" b="0">
                <a:solidFill>
                  <a:srgbClr val="0F172A"/>
                </a:solidFill>
                <a:latin typeface="Cambria Math"/>
                <a:ea typeface="Microsoft YaHei"/>
              </a:rPr>
              <a:t> τ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Cambria Math"/>
                <a:ea typeface="Microsoft YaHei"/>
              </a:rPr>
              <a:t>τ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是内部动作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，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外部不可见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AFA </a:t>
            </a: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与进程代数</a:t>
            </a:r>
            <a:r>
              <a:rPr sz="1000" b="0">
                <a:solidFill>
                  <a:srgbClr val="64748B"/>
                </a:solidFill>
                <a:latin typeface="Cambria Math"/>
                <a:ea typeface="Microsoft YaHei"/>
              </a:rPr>
              <a:t>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第</a:t>
            </a:r>
            <a:r>
              <a:rPr sz="1200" b="1">
                <a:solidFill>
                  <a:srgbClr val="64748B"/>
                </a:solidFill>
                <a:latin typeface="Arial"/>
                <a:ea typeface="Microsoft YaHei"/>
              </a:rPr>
              <a:t> 7 </a:t>
            </a: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8229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Arial"/>
                <a:ea typeface="Microsoft YaHei"/>
              </a:rPr>
              <a:t>CCS </a:t>
            </a: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</a:rPr>
              <a:t>语义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68680"/>
            <a:ext cx="82296" cy="640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051560" y="1627632"/>
            <a:ext cx="102870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7280" y="1965960"/>
            <a:ext cx="10607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a.P --a--&gt; P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P+Q：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两条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 Sum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规则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P|Q：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交错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 +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通信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（a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与</a:t>
            </a:r>
            <a:r>
              <a:rPr sz="1900" b="0">
                <a:solidFill>
                  <a:srgbClr val="0F172A"/>
                </a:solidFill>
                <a:latin typeface="Cambria Math"/>
                <a:ea typeface="Microsoft YaHei"/>
              </a:rPr>
              <a:t> ā → τ）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Cambria Math"/>
                <a:ea typeface="Microsoft YaHei"/>
              </a:rPr>
              <a:t>P\L：a ∉ L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才能走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rec X.P：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展开后走一步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AFA </a:t>
            </a: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与进程代数</a:t>
            </a:r>
            <a:r>
              <a:rPr sz="1000" b="0">
                <a:solidFill>
                  <a:srgbClr val="64748B"/>
                </a:solidFill>
                <a:latin typeface="Cambria Math"/>
                <a:ea typeface="Microsoft YaHei"/>
              </a:rPr>
              <a:t>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第</a:t>
            </a:r>
            <a:r>
              <a:rPr sz="1200" b="1">
                <a:solidFill>
                  <a:srgbClr val="64748B"/>
                </a:solidFill>
                <a:latin typeface="Arial"/>
                <a:ea typeface="Microsoft YaHei"/>
              </a:rPr>
              <a:t> 7 </a:t>
            </a: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8229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</a:rPr>
              <a:t>展开律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68680"/>
            <a:ext cx="82296" cy="640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051560" y="1627632"/>
            <a:ext cx="102870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7280" y="1965960"/>
            <a:ext cx="10607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Cambria Math"/>
                <a:ea typeface="Microsoft YaHei"/>
              </a:rPr>
              <a:t>P|Q ∼ Σ a.(P'|Q) + Σ a.(P|Q') + Σ τ.(P'|Q')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Cambria Math"/>
                <a:ea typeface="Microsoft YaHei"/>
              </a:rPr>
              <a:t>a.0|b.0 ∼ a.b.0 + b.a.0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并行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 =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交错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 +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通信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对有限进程成立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；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是定理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，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不是公理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AFA </a:t>
            </a: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与进程代数</a:t>
            </a:r>
            <a:r>
              <a:rPr sz="1000" b="0">
                <a:solidFill>
                  <a:srgbClr val="64748B"/>
                </a:solidFill>
                <a:latin typeface="Cambria Math"/>
                <a:ea typeface="Microsoft YaHei"/>
              </a:rPr>
              <a:t>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第</a:t>
            </a:r>
            <a:r>
              <a:rPr sz="1200" b="1">
                <a:solidFill>
                  <a:srgbClr val="64748B"/>
                </a:solidFill>
                <a:latin typeface="Arial"/>
                <a:ea typeface="Microsoft YaHei"/>
              </a:rPr>
              <a:t> 7 </a:t>
            </a: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8229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</a:rPr>
              <a:t>递归与</a:t>
            </a:r>
            <a:r>
              <a:rPr sz="3000" b="1">
                <a:solidFill>
                  <a:srgbClr val="0F172A"/>
                </a:solidFill>
                <a:latin typeface="Arial"/>
                <a:ea typeface="Microsoft YaHei"/>
              </a:rPr>
              <a:t> RSP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68680"/>
            <a:ext cx="82296" cy="640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051560" y="1627632"/>
            <a:ext cx="102870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7280" y="1965960"/>
            <a:ext cx="10607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Cambria Math"/>
                <a:ea typeface="Microsoft YaHei"/>
              </a:rPr>
              <a:t>RDP：rec X.P ∼ P[rec X.P/X]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RSP：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守护</a:t>
            </a:r>
            <a:r>
              <a:rPr sz="1900" b="0">
                <a:solidFill>
                  <a:srgbClr val="0F172A"/>
                </a:solidFill>
                <a:latin typeface="Cambria Math"/>
                <a:ea typeface="Microsoft YaHei"/>
              </a:rPr>
              <a:t> + Q ∼ P[Q/X] ⟹ Q ∼ rec X.P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守护排除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 X = X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这类空转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超集合模型验证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 RSP：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解唯一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AFA </a:t>
            </a: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与进程代数</a:t>
            </a:r>
            <a:r>
              <a:rPr sz="1000" b="0">
                <a:solidFill>
                  <a:srgbClr val="64748B"/>
                </a:solidFill>
                <a:latin typeface="Cambria Math"/>
                <a:ea typeface="Microsoft YaHei"/>
              </a:rPr>
              <a:t>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第</a:t>
            </a:r>
            <a:r>
              <a:rPr sz="1200" b="1">
                <a:solidFill>
                  <a:srgbClr val="64748B"/>
                </a:solidFill>
                <a:latin typeface="Arial"/>
                <a:ea typeface="Microsoft YaHei"/>
              </a:rPr>
              <a:t> 8 </a:t>
            </a: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8229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</a:rPr>
              <a:t>弱互模拟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68680"/>
            <a:ext cx="82296" cy="640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051560" y="1627632"/>
            <a:ext cx="102870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7280" y="1965960"/>
            <a:ext cx="10607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Cambria Math"/>
                <a:ea typeface="Microsoft YaHei"/>
              </a:rPr>
              <a:t>τ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不可见</a:t>
            </a:r>
            <a:r>
              <a:rPr sz="1900" b="0">
                <a:solidFill>
                  <a:srgbClr val="0F172A"/>
                </a:solidFill>
                <a:latin typeface="Cambria Math"/>
                <a:ea typeface="Microsoft YaHei"/>
              </a:rPr>
              <a:t>：P ⇒ P'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是</a:t>
            </a:r>
            <a:r>
              <a:rPr sz="1900" b="0">
                <a:solidFill>
                  <a:srgbClr val="0F172A"/>
                </a:solidFill>
                <a:latin typeface="Cambria Math"/>
                <a:ea typeface="Microsoft YaHei"/>
              </a:rPr>
              <a:t> τ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闭包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Cambria Math"/>
                <a:ea typeface="Microsoft YaHei"/>
              </a:rPr>
              <a:t>P --a⇒ P'：⇒ --a--&gt; ⇒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Cambria Math"/>
                <a:ea typeface="Microsoft YaHei"/>
              </a:rPr>
              <a:t>≈：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用弱迁移匹配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Cambria Math"/>
                <a:ea typeface="Microsoft YaHei"/>
              </a:rPr>
              <a:t>a.0 ≈ τ.a.0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AFA </a:t>
            </a: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与进程代数</a:t>
            </a:r>
            <a:r>
              <a:rPr sz="1000" b="0">
                <a:solidFill>
                  <a:srgbClr val="64748B"/>
                </a:solidFill>
                <a:latin typeface="Cambria Math"/>
                <a:ea typeface="Microsoft YaHei"/>
              </a:rPr>
              <a:t>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第</a:t>
            </a:r>
            <a:r>
              <a:rPr sz="1200" b="1">
                <a:solidFill>
                  <a:srgbClr val="64748B"/>
                </a:solidFill>
                <a:latin typeface="Arial"/>
                <a:ea typeface="Microsoft YaHei"/>
              </a:rPr>
              <a:t> 8 </a:t>
            </a: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8229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Cambria Math"/>
                <a:ea typeface="Microsoft YaHei"/>
              </a:rPr>
              <a:t>τ </a:t>
            </a: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</a:rPr>
              <a:t>定律与发散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68680"/>
            <a:ext cx="82296" cy="640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051560" y="1627632"/>
            <a:ext cx="102870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7280" y="1965960"/>
            <a:ext cx="10607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Cambria Math"/>
                <a:ea typeface="Microsoft YaHei"/>
              </a:rPr>
              <a:t>a.τ.P ≈ a.P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Cambria Math"/>
                <a:ea typeface="Microsoft YaHei"/>
              </a:rPr>
              <a:t>P + τ.P ≈ τ.P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Cambria Math"/>
                <a:ea typeface="Microsoft YaHei"/>
              </a:rPr>
              <a:t>Ω = rec X.τ.X ≈ 0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发散被忽略</a:t>
            </a:r>
            <a:r>
              <a:rPr sz="1900" b="0">
                <a:solidFill>
                  <a:srgbClr val="0F172A"/>
                </a:solidFill>
                <a:latin typeface="Cambria Math"/>
                <a:ea typeface="Microsoft YaHei"/>
              </a:rPr>
              <a:t>；≈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对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 +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不同余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观察同余</a:t>
            </a:r>
            <a:r>
              <a:rPr sz="1900" b="0">
                <a:solidFill>
                  <a:srgbClr val="0F172A"/>
                </a:solidFill>
                <a:latin typeface="Cambria Math"/>
                <a:ea typeface="Microsoft YaHei"/>
              </a:rPr>
              <a:t> ≈^c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修复同余性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AFA </a:t>
            </a: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与进程代数</a:t>
            </a:r>
            <a:r>
              <a:rPr sz="1000" b="0">
                <a:solidFill>
                  <a:srgbClr val="64748B"/>
                </a:solidFill>
                <a:latin typeface="Cambria Math"/>
                <a:ea typeface="Microsoft YaHei"/>
              </a:rPr>
              <a:t>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第</a:t>
            </a:r>
            <a:r>
              <a:rPr sz="1200" b="1">
                <a:solidFill>
                  <a:srgbClr val="64748B"/>
                </a:solidFill>
                <a:latin typeface="Arial"/>
                <a:ea typeface="Microsoft YaHei"/>
              </a:rPr>
              <a:t> 9 </a:t>
            </a: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8229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Arial"/>
                <a:ea typeface="Microsoft YaHei"/>
              </a:rPr>
              <a:t>ACP：</a:t>
            </a: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</a:rPr>
              <a:t>代数进程论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68680"/>
            <a:ext cx="82296" cy="640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051560" y="1627632"/>
            <a:ext cx="102870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7280" y="1965960"/>
            <a:ext cx="10607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代数先行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：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签名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 +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公理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动作集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 A，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通信函数</a:t>
            </a:r>
            <a:r>
              <a:rPr sz="1900" b="0">
                <a:solidFill>
                  <a:srgbClr val="0F172A"/>
                </a:solidFill>
                <a:latin typeface="Cambria Math"/>
                <a:ea typeface="Microsoft YaHei"/>
              </a:rPr>
              <a:t> γ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算子</a:t>
            </a:r>
            <a:r>
              <a:rPr sz="1900" b="0">
                <a:solidFill>
                  <a:srgbClr val="0F172A"/>
                </a:solidFill>
                <a:latin typeface="Cambria Math"/>
                <a:ea typeface="Microsoft YaHei"/>
              </a:rPr>
              <a:t>：+、·、∥、L、|、∂_H、τ_I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交错语义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；mCRL2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的理论基础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AFA </a:t>
            </a: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与进程代数</a:t>
            </a:r>
            <a:r>
              <a:rPr sz="1000" b="0">
                <a:solidFill>
                  <a:srgbClr val="64748B"/>
                </a:solidFill>
                <a:latin typeface="Cambria Math"/>
                <a:ea typeface="Microsoft YaHei"/>
              </a:rPr>
              <a:t>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第</a:t>
            </a:r>
            <a:r>
              <a:rPr sz="1200" b="1">
                <a:solidFill>
                  <a:srgbClr val="64748B"/>
                </a:solidFill>
                <a:latin typeface="Arial"/>
                <a:ea typeface="Microsoft YaHei"/>
              </a:rPr>
              <a:t> 9 </a:t>
            </a: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8229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Arial"/>
                <a:ea typeface="Microsoft YaHei"/>
              </a:rPr>
              <a:t>ACP </a:t>
            </a: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</a:rPr>
              <a:t>核心公理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68680"/>
            <a:ext cx="82296" cy="640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051560" y="1627632"/>
            <a:ext cx="102870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7280" y="1965960"/>
            <a:ext cx="10607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x∥y = L(x,y) + L(y,x) + x|y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Cambria Math"/>
                <a:ea typeface="Microsoft YaHei"/>
              </a:rPr>
              <a:t>L(a,x) = a·x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Cambria Math"/>
                <a:ea typeface="Microsoft YaHei"/>
              </a:rPr>
              <a:t>a|b = γ(a,b)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∂_H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禁止动作</a:t>
            </a:r>
            <a:r>
              <a:rPr sz="1900" b="0">
                <a:solidFill>
                  <a:srgbClr val="0F172A"/>
                </a:solidFill>
                <a:latin typeface="Cambria Math"/>
                <a:ea typeface="Microsoft YaHei"/>
              </a:rPr>
              <a:t>；τ_I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隐藏动作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RDP/RSP：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守护递归有唯一解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AFA </a:t>
            </a: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与进程代数</a:t>
            </a:r>
            <a:r>
              <a:rPr sz="1000" b="0">
                <a:solidFill>
                  <a:srgbClr val="64748B"/>
                </a:solidFill>
                <a:latin typeface="Cambria Math"/>
                <a:ea typeface="Microsoft YaHei"/>
              </a:rPr>
              <a:t>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第</a:t>
            </a:r>
            <a:r>
              <a:rPr sz="1200" b="1">
                <a:solidFill>
                  <a:srgbClr val="64748B"/>
                </a:solidFill>
                <a:latin typeface="Arial"/>
                <a:ea typeface="Microsoft YaHei"/>
              </a:rPr>
              <a:t> 10 </a:t>
            </a: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8229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Cambria Math"/>
                <a:ea typeface="Microsoft YaHei"/>
              </a:rPr>
              <a:t>π-</a:t>
            </a: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</a:rPr>
              <a:t>演算</a:t>
            </a:r>
            <a:r>
              <a:rPr sz="3000" b="1">
                <a:solidFill>
                  <a:srgbClr val="0F172A"/>
                </a:solidFill>
                <a:latin typeface="Arial"/>
                <a:ea typeface="Microsoft YaHei"/>
              </a:rPr>
              <a:t>：</a:t>
            </a: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</a:rPr>
              <a:t>移动性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68680"/>
            <a:ext cx="82296" cy="640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051560" y="1627632"/>
            <a:ext cx="102870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7280" y="1965960"/>
            <a:ext cx="10607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名字可以传递</a:t>
            </a:r>
            <a:r>
              <a:rPr sz="1900" b="0">
                <a:solidFill>
                  <a:srgbClr val="0F172A"/>
                </a:solidFill>
                <a:latin typeface="Cambria Math"/>
                <a:ea typeface="Microsoft YaHei"/>
              </a:rPr>
              <a:t>：ā⟨b⟩.P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与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 a(x).P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Cambria Math"/>
                <a:ea typeface="Microsoft YaHei"/>
              </a:rPr>
              <a:t>(νa)P：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私有名字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作用域挤出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：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发送后作用域扩展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早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/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晚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/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开互模拟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：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对名字实例化不同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AFA </a:t>
            </a: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与进程代数</a:t>
            </a:r>
            <a:r>
              <a:rPr sz="1000" b="0">
                <a:solidFill>
                  <a:srgbClr val="64748B"/>
                </a:solidFill>
                <a:latin typeface="Cambria Math"/>
                <a:ea typeface="Microsoft YaHei"/>
              </a:rPr>
              <a:t>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920240"/>
            <a:ext cx="29260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1">
                <a:solidFill>
                  <a:srgbClr val="1D4ED8"/>
                </a:solidFill>
                <a:latin typeface="Arial"/>
                <a:ea typeface="Microsoft YaHe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56616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</a:rPr>
              <a:t>统一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44348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94A3B8"/>
                </a:solidFill>
                <a:latin typeface="Microsoft YaHei"/>
                <a:ea typeface="Microsoft YaHei"/>
              </a:rPr>
              <a:t>进程即超集合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51560" y="4206240"/>
            <a:ext cx="2788920" cy="0"/>
          </a:xfrm>
          <a:prstGeom prst="line">
            <a:avLst/>
          </a:prstGeom>
          <a:ln w="3810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Arial"/>
                <a:ea typeface="Microsoft YaHei"/>
              </a:rPr>
              <a:t>AFA </a:t>
            </a:r>
            <a:r>
              <a:rPr sz="1000" b="0">
                <a:solidFill>
                  <a:srgbClr val="CBD5E1"/>
                </a:solidFill>
                <a:latin typeface="Microsoft YaHei"/>
                <a:ea typeface="Microsoft YaHei"/>
              </a:rPr>
              <a:t>与进程代数</a:t>
            </a:r>
            <a:r>
              <a:rPr sz="1000" b="0">
                <a:solidFill>
                  <a:srgbClr val="CBD5E1"/>
                </a:solidFill>
                <a:latin typeface="Cambria Math"/>
                <a:ea typeface="Microsoft YaHei"/>
              </a:rPr>
              <a:t>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Arial"/>
                <a:ea typeface="Microsoft YaHe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第</a:t>
            </a:r>
            <a:r>
              <a:rPr sz="1200" b="1">
                <a:solidFill>
                  <a:srgbClr val="64748B"/>
                </a:solidFill>
                <a:latin typeface="Arial"/>
                <a:ea typeface="Microsoft YaHei"/>
              </a:rPr>
              <a:t> 11 </a:t>
            </a: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8229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</a:rPr>
              <a:t>进程即超集合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68680"/>
            <a:ext cx="82296" cy="640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051560" y="1627632"/>
            <a:ext cx="102870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7280" y="1965960"/>
            <a:ext cx="10607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d(s) = { (a, d(s')) | s --a--&gt; s' }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Cambria Math"/>
                <a:ea typeface="Microsoft YaHei"/>
              </a:rPr>
              <a:t>s ∼ t ⟺ d(s) = d(t)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(V_A(Act), id)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是终余代数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强互模拟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 =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集合相等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AFA </a:t>
            </a: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与进程代数</a:t>
            </a:r>
            <a:r>
              <a:rPr sz="1000" b="0">
                <a:solidFill>
                  <a:srgbClr val="64748B"/>
                </a:solidFill>
                <a:latin typeface="Cambria Math"/>
                <a:ea typeface="Microsoft YaHei"/>
              </a:rPr>
              <a:t>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第</a:t>
            </a:r>
            <a:r>
              <a:rPr sz="1200" b="1">
                <a:solidFill>
                  <a:srgbClr val="64748B"/>
                </a:solidFill>
                <a:latin typeface="Arial"/>
                <a:ea typeface="Microsoft YaHei"/>
              </a:rPr>
              <a:t> 11 </a:t>
            </a: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8229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</a:rPr>
              <a:t>指称表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68680"/>
            <a:ext cx="82296" cy="640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051560" y="1627632"/>
            <a:ext cx="102870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97280" y="1965960"/>
          <a:ext cx="102412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7132320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进程</a:t>
                      </a:r>
                    </a:p>
                  </a:txBody>
                  <a:tcPr marL="109728" marR="73152" marT="45720" marB="45720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指称</a:t>
                      </a:r>
                    </a:p>
                  </a:txBody>
                  <a:tcPr marL="109728" marR="73152" marT="45720" marB="45720">
                    <a:solidFill>
                      <a:srgbClr val="0F172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F172A"/>
                          </a:solidFill>
                          <a:latin typeface="Arial"/>
                          <a:ea typeface="Microsoft YaHei"/>
                        </a:rPr>
                        <a:t>0</a:t>
                      </a:r>
                    </a:p>
                  </a:txBody>
                  <a:tcPr marL="109728" marR="73152" marT="45720" marB="4572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F172A"/>
                          </a:solidFill>
                          <a:latin typeface="Cambria Math"/>
                          <a:ea typeface="Microsoft YaHei"/>
                        </a:rPr>
                        <a:t>∅</a:t>
                      </a:r>
                    </a:p>
                  </a:txBody>
                  <a:tcPr marL="109728" marR="73152" marT="45720" marB="45720">
                    <a:solidFill>
                      <a:srgbClr val="F8FAF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F172A"/>
                          </a:solidFill>
                          <a:latin typeface="Arial"/>
                          <a:ea typeface="Microsoft YaHei"/>
                        </a:rPr>
                        <a:t>a.0</a:t>
                      </a:r>
                    </a:p>
                  </a:txBody>
                  <a:tcPr marL="109728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F172A"/>
                          </a:solidFill>
                          <a:latin typeface="Cambria Math"/>
                          <a:ea typeface="Microsoft YaHei"/>
                        </a:rPr>
                        <a:t>{(a, ∅)}</a:t>
                      </a:r>
                    </a:p>
                  </a:txBody>
                  <a:tcPr marL="109728" marR="73152" marT="45720" marB="4572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F172A"/>
                          </a:solidFill>
                          <a:latin typeface="Arial"/>
                          <a:ea typeface="Microsoft YaHei"/>
                        </a:rPr>
                        <a:t>a.(b.0+c.0)</a:t>
                      </a:r>
                    </a:p>
                  </a:txBody>
                  <a:tcPr marL="109728" marR="73152" marT="45720" marB="4572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F172A"/>
                          </a:solidFill>
                          <a:latin typeface="Cambria Math"/>
                          <a:ea typeface="Microsoft YaHei"/>
                        </a:rPr>
                        <a:t>{(a, {(b,∅), (c,∅)})}</a:t>
                      </a:r>
                    </a:p>
                  </a:txBody>
                  <a:tcPr marL="109728" marR="73152" marT="45720" marB="45720">
                    <a:solidFill>
                      <a:srgbClr val="F8FAF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F172A"/>
                          </a:solidFill>
                          <a:latin typeface="Arial"/>
                          <a:ea typeface="Microsoft YaHei"/>
                        </a:rPr>
                        <a:t>a.b.0+a.c.0</a:t>
                      </a:r>
                    </a:p>
                  </a:txBody>
                  <a:tcPr marL="109728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F172A"/>
                          </a:solidFill>
                          <a:latin typeface="Cambria Math"/>
                          <a:ea typeface="Microsoft YaHei"/>
                        </a:rPr>
                        <a:t>{(a,{(b,∅)}), (a,{(c,∅)})}</a:t>
                      </a:r>
                    </a:p>
                  </a:txBody>
                  <a:tcPr marL="109728" marR="73152" marT="45720" marB="4572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F172A"/>
                          </a:solidFill>
                          <a:latin typeface="Cambria Math"/>
                          <a:ea typeface="Microsoft YaHei"/>
                        </a:rPr>
                        <a:t>Ω_τ</a:t>
                      </a:r>
                    </a:p>
                  </a:txBody>
                  <a:tcPr marL="109728" marR="73152" marT="45720" marB="4572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F172A"/>
                          </a:solidFill>
                          <a:latin typeface="Cambria Math"/>
                          <a:ea typeface="Microsoft YaHei"/>
                        </a:rPr>
                        <a:t>{(τ, Ω_τ)}</a:t>
                      </a:r>
                    </a:p>
                  </a:txBody>
                  <a:tcPr marL="109728" marR="73152" marT="45720" marB="4572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AFA </a:t>
            </a: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与进程代数</a:t>
            </a:r>
            <a:r>
              <a:rPr sz="1000" b="0">
                <a:solidFill>
                  <a:srgbClr val="64748B"/>
                </a:solidFill>
                <a:latin typeface="Cambria Math"/>
                <a:ea typeface="Microsoft YaHei"/>
              </a:rPr>
              <a:t>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第</a:t>
            </a:r>
            <a:r>
              <a:rPr sz="1200" b="1">
                <a:solidFill>
                  <a:srgbClr val="64748B"/>
                </a:solidFill>
                <a:latin typeface="Arial"/>
                <a:ea typeface="Microsoft YaHei"/>
              </a:rPr>
              <a:t> 11 </a:t>
            </a: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8229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</a:rPr>
              <a:t>语义三角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68680"/>
            <a:ext cx="82296" cy="640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051560" y="1627632"/>
            <a:ext cx="102870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7280" y="2011680"/>
            <a:ext cx="42062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>
                <a:solidFill>
                  <a:srgbClr val="1D4ED8"/>
                </a:solidFill>
                <a:latin typeface="Arial"/>
              </a:rPr>
              <a:t>•  </a:t>
            </a:r>
            <a:r>
              <a:rPr sz="1700" b="0">
                <a:solidFill>
                  <a:srgbClr val="0F172A"/>
                </a:solidFill>
                <a:latin typeface="Microsoft YaHei"/>
                <a:ea typeface="Microsoft YaHei"/>
              </a:rPr>
              <a:t>先商去互模拟</a:t>
            </a:r>
            <a:r>
              <a:rPr sz="1700" b="0">
                <a:solidFill>
                  <a:srgbClr val="0F172A"/>
                </a:solidFill>
                <a:latin typeface="Arial"/>
                <a:ea typeface="Microsoft YaHei"/>
              </a:rPr>
              <a:t>，</a:t>
            </a:r>
            <a:r>
              <a:rPr sz="1700" b="0">
                <a:solidFill>
                  <a:srgbClr val="0F172A"/>
                </a:solidFill>
                <a:latin typeface="Microsoft YaHei"/>
                <a:ea typeface="Microsoft YaHei"/>
              </a:rPr>
              <a:t>再取指称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>
                <a:solidFill>
                  <a:srgbClr val="1D4ED8"/>
                </a:solidFill>
                <a:latin typeface="Arial"/>
              </a:rPr>
              <a:t>•  </a:t>
            </a:r>
            <a:r>
              <a:rPr sz="1700" b="0">
                <a:solidFill>
                  <a:srgbClr val="0F172A"/>
                </a:solidFill>
                <a:latin typeface="Microsoft YaHei"/>
                <a:ea typeface="Microsoft YaHei"/>
              </a:rPr>
              <a:t>等于直接取指称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>
                <a:solidFill>
                  <a:srgbClr val="1D4ED8"/>
                </a:solidFill>
                <a:latin typeface="Arial"/>
              </a:rPr>
              <a:t>•  </a:t>
            </a:r>
            <a:r>
              <a:rPr sz="1700" b="0">
                <a:solidFill>
                  <a:srgbClr val="0F172A"/>
                </a:solidFill>
                <a:latin typeface="Microsoft YaHei"/>
                <a:ea typeface="Microsoft YaHei"/>
              </a:rPr>
              <a:t>指称在商上单射</a:t>
            </a:r>
          </a:p>
        </p:txBody>
      </p:sp>
      <p:pic>
        <p:nvPicPr>
          <p:cNvPr id="7" name="Picture 6" descr="fig-triang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320398"/>
            <a:ext cx="5303520" cy="31316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" y="5989320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图</a:t>
            </a:r>
            <a:r>
              <a:rPr sz="1200" b="0">
                <a:solidFill>
                  <a:srgbClr val="64748B"/>
                </a:solidFill>
                <a:latin typeface="Arial"/>
                <a:ea typeface="Microsoft YaHei"/>
              </a:rPr>
              <a:t> 11-1　</a:t>
            </a: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语法</a:t>
            </a:r>
            <a:r>
              <a:rPr sz="1200" b="0">
                <a:solidFill>
                  <a:srgbClr val="64748B"/>
                </a:solidFill>
                <a:latin typeface="Arial"/>
                <a:ea typeface="Microsoft YaHei"/>
              </a:rPr>
              <a:t>、</a:t>
            </a: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商与行为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AFA </a:t>
            </a: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与进程代数</a:t>
            </a:r>
            <a:r>
              <a:rPr sz="1000" b="0">
                <a:solidFill>
                  <a:srgbClr val="64748B"/>
                </a:solidFill>
                <a:latin typeface="Cambria Math"/>
                <a:ea typeface="Microsoft YaHei"/>
              </a:rPr>
              <a:t>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8229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</a:rPr>
              <a:t>三句话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68680"/>
            <a:ext cx="82296" cy="640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051560" y="1627632"/>
            <a:ext cx="102870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7280" y="1965960"/>
            <a:ext cx="10607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AFA：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每个图都有唯一的装饰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互模拟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：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集合相等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终语义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：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进程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 =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超集合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边界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：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弱互模拟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、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发散</a:t>
            </a:r>
            <a:r>
              <a:rPr sz="1900" b="0">
                <a:solidFill>
                  <a:srgbClr val="0F172A"/>
                </a:solidFill>
                <a:latin typeface="Arial"/>
                <a:ea typeface="Microsoft YaHei"/>
              </a:rPr>
              <a:t>、</a:t>
            </a:r>
            <a:r>
              <a:rPr sz="1900" b="0">
                <a:solidFill>
                  <a:srgbClr val="0F172A"/>
                </a:solidFill>
                <a:latin typeface="Microsoft YaHei"/>
                <a:ea typeface="Microsoft YaHei"/>
              </a:rPr>
              <a:t>绑定名需要更丰富的结构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AFA </a:t>
            </a: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与进程代数</a:t>
            </a:r>
            <a:r>
              <a:rPr sz="1000" b="0">
                <a:solidFill>
                  <a:srgbClr val="64748B"/>
                </a:solidFill>
                <a:latin typeface="Cambria Math"/>
                <a:ea typeface="Microsoft YaHei"/>
              </a:rPr>
              <a:t>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645920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600" b="1">
                <a:solidFill>
                  <a:srgbClr val="FFFFFF"/>
                </a:solidFill>
                <a:latin typeface="Microsoft YaHei"/>
                <a:ea typeface="Microsoft YaHei"/>
              </a:rP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7432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CBD5E1"/>
                </a:solidFill>
                <a:latin typeface="Microsoft YaHei"/>
                <a:ea typeface="Microsoft YaHei"/>
              </a:rPr>
              <a:t>问题</a:t>
            </a:r>
            <a:r>
              <a:rPr sz="2000" b="0">
                <a:solidFill>
                  <a:srgbClr val="CBD5E1"/>
                </a:solidFill>
                <a:latin typeface="Arial"/>
                <a:ea typeface="Microsoft YaHei"/>
              </a:rPr>
              <a:t>、</a:t>
            </a:r>
            <a:r>
              <a:rPr sz="2000" b="0">
                <a:solidFill>
                  <a:srgbClr val="CBD5E1"/>
                </a:solidFill>
                <a:latin typeface="Microsoft YaHei"/>
                <a:ea typeface="Microsoft YaHei"/>
              </a:rPr>
              <a:t>讨论</a:t>
            </a:r>
            <a:r>
              <a:rPr sz="2000" b="0">
                <a:solidFill>
                  <a:srgbClr val="CBD5E1"/>
                </a:solidFill>
                <a:latin typeface="Arial"/>
                <a:ea typeface="Microsoft YaHei"/>
              </a:rPr>
              <a:t>、</a:t>
            </a:r>
            <a:r>
              <a:rPr sz="2000" b="0">
                <a:solidFill>
                  <a:srgbClr val="CBD5E1"/>
                </a:solidFill>
                <a:latin typeface="Microsoft YaHei"/>
                <a:ea typeface="Microsoft YaHei"/>
              </a:rPr>
              <a:t>项目选题</a:t>
            </a:r>
            <a:r>
              <a:rPr sz="2000" b="0">
                <a:solidFill>
                  <a:srgbClr val="CBD5E1"/>
                </a:solidFill>
                <a:latin typeface="Arial"/>
                <a:ea typeface="Microsoft YaHei"/>
              </a:rPr>
              <a:t>，</a:t>
            </a:r>
            <a:r>
              <a:rPr sz="2000" b="0">
                <a:solidFill>
                  <a:srgbClr val="CBD5E1"/>
                </a:solidFill>
                <a:latin typeface="Microsoft YaHei"/>
                <a:ea typeface="Microsoft YaHei"/>
              </a:rPr>
              <a:t>欢迎随时交流</a:t>
            </a:r>
            <a:r>
              <a:rPr sz="2000" b="0">
                <a:solidFill>
                  <a:srgbClr val="CBD5E1"/>
                </a:solidFill>
                <a:latin typeface="Arial"/>
                <a:ea typeface="Microsoft YaHei"/>
              </a:rPr>
              <a:t>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840480"/>
            <a:ext cx="96012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600" b="0">
                <a:solidFill>
                  <a:srgbClr val="94A3B8"/>
                </a:solidFill>
                <a:latin typeface="Microsoft YaHei"/>
                <a:ea typeface="Microsoft YaHei"/>
              </a:rPr>
              <a:t>必读</a:t>
            </a:r>
            <a:r>
              <a:rPr sz="1600" b="0">
                <a:solidFill>
                  <a:srgbClr val="94A3B8"/>
                </a:solidFill>
                <a:latin typeface="Cambria Math"/>
                <a:ea typeface="Microsoft YaHei"/>
              </a:rPr>
              <a:t>：Aczel (1988) · Milner (1989) · Rutten (2000)</a:t>
            </a:r>
          </a:p>
          <a:p>
            <a:pPr algn="l">
              <a:lnSpc>
                <a:spcPct val="160000"/>
              </a:lnSpc>
            </a:pPr>
            <a:r>
              <a:rPr sz="1600" b="0">
                <a:solidFill>
                  <a:srgbClr val="94A3B8"/>
                </a:solidFill>
                <a:latin typeface="Microsoft YaHei"/>
                <a:ea typeface="Microsoft YaHei"/>
              </a:rPr>
              <a:t>工具</a:t>
            </a:r>
            <a:r>
              <a:rPr sz="1600" b="0">
                <a:solidFill>
                  <a:srgbClr val="94A3B8"/>
                </a:solidFill>
                <a:latin typeface="Cambria Math"/>
                <a:ea typeface="Microsoft YaHei"/>
              </a:rPr>
              <a:t>：mCRL2 · CADP · FDR4</a:t>
            </a:r>
          </a:p>
          <a:p>
            <a:pPr algn="l">
              <a:lnSpc>
                <a:spcPct val="160000"/>
              </a:lnSpc>
            </a:pPr>
            <a:r>
              <a:rPr sz="1600" b="0">
                <a:solidFill>
                  <a:srgbClr val="94A3B8"/>
                </a:solidFill>
                <a:latin typeface="Microsoft YaHei"/>
                <a:ea typeface="Microsoft YaHei"/>
              </a:rPr>
              <a:t>进阶</a:t>
            </a:r>
            <a:r>
              <a:rPr sz="1600" b="0">
                <a:solidFill>
                  <a:srgbClr val="94A3B8"/>
                </a:solidFill>
                <a:latin typeface="Cambria Math"/>
                <a:ea typeface="Microsoft YaHei"/>
              </a:rPr>
              <a:t>：Sangiorgi (2011) · Jacobs (2016)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Arial"/>
                <a:ea typeface="Microsoft YaHei"/>
              </a:rPr>
              <a:t>AFA </a:t>
            </a:r>
            <a:r>
              <a:rPr sz="1000" b="0">
                <a:solidFill>
                  <a:srgbClr val="CBD5E1"/>
                </a:solidFill>
                <a:latin typeface="Microsoft YaHei"/>
                <a:ea typeface="Microsoft YaHei"/>
              </a:rPr>
              <a:t>与进程代数</a:t>
            </a:r>
            <a:r>
              <a:rPr sz="1000" b="0">
                <a:solidFill>
                  <a:srgbClr val="CBD5E1"/>
                </a:solidFill>
                <a:latin typeface="Cambria Math"/>
                <a:ea typeface="Microsoft YaHei"/>
              </a:rPr>
              <a:t>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Arial"/>
                <a:ea typeface="Microsoft YaHei"/>
              </a:rPr>
              <a:t>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